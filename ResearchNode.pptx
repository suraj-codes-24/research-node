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73" r:id="rId2"/>
    <p:sldId id="257" r:id="rId3"/>
    <p:sldId id="258" r:id="rId4"/>
    <p:sldId id="261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4" r:id="rId14"/>
    <p:sldId id="271" r:id="rId15"/>
    <p:sldId id="272" r:id="rId16"/>
  </p:sldIdLst>
  <p:sldSz cx="12192000" cy="6858000"/>
  <p:notesSz cx="6858000" cy="12192000"/>
  <p:embeddedFontLs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698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66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u="sng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ResearchNode</a:t>
            </a:r>
            <a:endParaRPr lang="en-US" sz="3700" u="sng" dirty="0"/>
          </a:p>
        </p:txBody>
      </p:sp>
      <p:sp>
        <p:nvSpPr>
          <p:cNvPr id="3" name="Text 1"/>
          <p:cNvSpPr/>
          <p:nvPr/>
        </p:nvSpPr>
        <p:spPr>
          <a:xfrm>
            <a:off x="661475" y="220285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GraphRAG Reasoning Engine for Scientific Literature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958802"/>
            <a:ext cx="10868745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b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leader: Suraj Singh</a:t>
            </a:r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b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Members: Suraj Gupta, Siddhant Singh, Shreya Yadav, Shreyanshi Yadav</a:t>
            </a:r>
          </a:p>
          <a:p>
            <a:pPr algn="ctr">
              <a:lnSpc>
                <a:spcPct val="133000"/>
              </a:lnSpc>
            </a:pPr>
            <a:r>
              <a:rPr lang="en-US" b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Id:  26_CS_3A_08</a:t>
            </a:r>
          </a:p>
          <a:p>
            <a:pPr algn="ctr">
              <a:lnSpc>
                <a:spcPct val="133000"/>
              </a:lnSpc>
            </a:pPr>
            <a:r>
              <a:rPr lang="en-US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07-09-2026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39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Why ResearchNode?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34083"/>
            <a:ext cx="10868745" cy="97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Overload: Millions of papers published yearly — impossible to read all</a:t>
            </a:r>
            <a:endParaRPr lang="en-US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Disconnected Knowledge: Google Scholar finds papers but cannot connect ideas or show relationships</a:t>
            </a:r>
            <a:endParaRPr lang="en-US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Hallucinations: ChatGPT makes up facts, provides no verifiable citations, doesn't work on YOUR papers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16" y="2204159"/>
            <a:ext cx="7608102" cy="4279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4652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				Our Solution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1439919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			        </a:t>
            </a:r>
            <a:r>
              <a:rPr lang="en-US" sz="2400" b="1" u="sng" kern="0" spc="-73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ResearchNode</a:t>
            </a:r>
            <a:r>
              <a:rPr lang="en-US" sz="2400" b="1" u="sng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 3 Pillars</a:t>
            </a:r>
            <a:endParaRPr lang="en-US" sz="2400" u="sng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848" y="1877410"/>
            <a:ext cx="5883107" cy="27408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8168" y="5034104"/>
            <a:ext cx="10868745" cy="1560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200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UPLOAD:</a:t>
            </a:r>
            <a:r>
              <a:rPr lang="en-US" sz="2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Extract text and entities from PDFs automatically</a:t>
            </a:r>
            <a:endParaRPr lang="en-US" sz="200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200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CONNECT:</a:t>
            </a:r>
            <a:r>
              <a:rPr lang="en-US" sz="2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a persistent visual Knowledge Graph linking all concepts</a:t>
            </a:r>
            <a:endParaRPr lang="en-US" sz="200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200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REASON:</a:t>
            </a:r>
            <a:r>
              <a:rPr lang="en-US" sz="2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Ask questions using GraphRAG and get cited answers + run autonomous agents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0684" y="519807"/>
            <a:ext cx="10868745" cy="48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4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			Full Pipeline Architecture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50" y="1269717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54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			PDF Processing Pipeline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83184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u="sng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PDF to Searchable Vectors</a:t>
            </a:r>
            <a:endParaRPr lang="en-US" sz="1600" u="sng" dirty="0"/>
          </a:p>
        </p:txBody>
      </p:sp>
      <p:sp>
        <p:nvSpPr>
          <p:cNvPr id="4" name="Text 2"/>
          <p:cNvSpPr/>
          <p:nvPr/>
        </p:nvSpPr>
        <p:spPr>
          <a:xfrm>
            <a:off x="661475" y="1501180"/>
            <a:ext cx="10868745" cy="109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6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PDF → PyMuPDF extracts text</a:t>
            </a:r>
            <a:endParaRPr lang="en-US" sz="16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6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TextCleaner removes noise (headers, footers, special chars)</a:t>
            </a:r>
            <a:endParaRPr lang="en-US" sz="16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6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TextChunker splits into 1000-char chunks with 200-char overlap</a:t>
            </a:r>
            <a:endParaRPr lang="en-US" sz="16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6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chunk gets a 384-dimensional embedding vector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678" y="2526109"/>
            <a:ext cx="8084340" cy="34862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97661" y="5351235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384‑D Embeddings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97661" y="4544225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Overlapping Chunks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97661" y="3745366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Text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97661" y="2938356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Raw PDF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5906768"/>
            <a:ext cx="11478330" cy="45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pipeline systematically processes raw PDF documents into structured, searchable vector embeddings,</a:t>
            </a:r>
          </a:p>
          <a:p>
            <a:pPr algn="l">
              <a:lnSpc>
                <a:spcPct val="117000"/>
              </a:lnSpc>
            </a:pPr>
            <a:r>
              <a:rPr lang="en-US" sz="16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enabling efficient analysis and retrieval.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63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			Why GraphRAG? The Innovation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35782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		Knowledge Graph: Nodes &amp; Relationships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86492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13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			Hybrid Entity Extraction Approach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5659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48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Multi-Agent System: 3 Autonomous AI Agents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4348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leverages three specialized AI agents working in concert to revolutionize research analysis: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58530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672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Literature Discovery Agent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275931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topic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outputs related papers, relationship summary, suggested reading order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158530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38672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Contradiction Detection Agent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275931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Scans papers globally → finds conflicting claims → outputs severity (High/Medium/Low)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15853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8672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 Suggestion Agent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275931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limitations + future work → outputs experiment title, rationale, novelty score (1-10)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 Technology Stack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ResearchNode platform is built upon a robust and modern technology stack, ensuring scalability, performance, and advanced functionality across all layers.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693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6">
              <a:lnSpc>
                <a:spcPct val="104000"/>
              </a:lnSpc>
            </a:pPr>
            <a:r>
              <a:rPr lang="en-US" sz="2400" b="1" u="sng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Interface: 4 Main Pages</a:t>
            </a:r>
            <a:endParaRPr lang="en-US" sz="2400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B31961-F4C5-469D-C165-FB5EBC913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795" y="1449615"/>
            <a:ext cx="4700198" cy="2529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5CD4C8-19CE-0AD2-ECAB-CB8DD6230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131" y="4035335"/>
            <a:ext cx="4696178" cy="264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35A5CC-0D5C-19F5-ED5D-CBED99DFD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1393735"/>
            <a:ext cx="4696178" cy="2641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14583F-2D7C-D5E8-F7A4-CCFD5EB54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7" y="4143465"/>
            <a:ext cx="4696178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6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33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Targets &amp; Benchmarks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6296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consistently meets stringent performance targets, ensuring efficiency and responsiveness across all key operations: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80964"/>
            <a:ext cx="354401" cy="3544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168227"/>
            <a:ext cx="3534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PDF Extraction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453382"/>
            <a:ext cx="353428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pages: &lt; 5 seconds ✓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8607" y="1680964"/>
            <a:ext cx="354401" cy="3544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28607" y="2168227"/>
            <a:ext cx="3534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328607" y="2453382"/>
            <a:ext cx="35343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chunks: &lt; 10 seconds ✓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5839" y="1680964"/>
            <a:ext cx="354401" cy="3544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95839" y="2168227"/>
            <a:ext cx="3534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Vector Search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995839" y="2453382"/>
            <a:ext cx="35343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Top-10: &lt; 500ms ✓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864445"/>
            <a:ext cx="354401" cy="3544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3351709"/>
            <a:ext cx="3534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 Query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61475" y="3636863"/>
            <a:ext cx="353428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2 seconds ✓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28607" y="2864445"/>
            <a:ext cx="354401" cy="3544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28607" y="3351709"/>
            <a:ext cx="3534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RAG Response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4328607" y="3636863"/>
            <a:ext cx="35343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15 seconds ✓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661475" y="3994745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Specifications &amp; Limits</a:t>
            </a:r>
            <a:endParaRPr lang="en-US" sz="16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661475" y="4419898"/>
          <a:ext cx="10868746" cy="1718030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 PDF size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 MB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 papers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 vectors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responsive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1024px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24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11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 &amp; Future Roadmap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617563"/>
            <a:ext cx="520746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8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1475" y="2288679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174" y="2358330"/>
            <a:ext cx="279095" cy="279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3222" y="2352576"/>
            <a:ext cx="460571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Entity extraction not 100% accurate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61475" y="3073598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174" y="3143250"/>
            <a:ext cx="279095" cy="279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3222" y="3137495"/>
            <a:ext cx="460571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Works best with ML/AI papers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61475" y="3858518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174" y="3928170"/>
            <a:ext cx="279095" cy="2791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3222" y="3922415"/>
            <a:ext cx="460571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Requires local database instances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61475" y="4643437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174" y="4713089"/>
            <a:ext cx="279095" cy="2791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3222" y="4707334"/>
            <a:ext cx="460571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English-only support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61475" y="5428357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174" y="5498009"/>
            <a:ext cx="279095" cy="2791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63222" y="5492254"/>
            <a:ext cx="460571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Needs 3-5 papers minimum for meaningful graph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329105" y="1617563"/>
            <a:ext cx="520746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8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</a:t>
            </a:r>
            <a:endParaRPr lang="en-US" sz="2900" dirty="0"/>
          </a:p>
        </p:txBody>
      </p:sp>
      <p:sp>
        <p:nvSpPr>
          <p:cNvPr id="20" name="Shape 13"/>
          <p:cNvSpPr/>
          <p:nvPr/>
        </p:nvSpPr>
        <p:spPr>
          <a:xfrm>
            <a:off x="6329105" y="2288679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98804" y="2358330"/>
            <a:ext cx="279095" cy="27910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30852" y="2352576"/>
            <a:ext cx="460571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arXiv/PubMed integration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6329105" y="3073598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98804" y="3143250"/>
            <a:ext cx="279095" cy="27910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30852" y="3137495"/>
            <a:ext cx="460571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deployment (AWS/GCP)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6329105" y="3858518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98804" y="3928170"/>
            <a:ext cx="279095" cy="27910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30852" y="3922415"/>
            <a:ext cx="460571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Multi-user collaborative workspaces</a:t>
            </a:r>
            <a:endParaRPr lang="en-US" sz="1800" dirty="0"/>
          </a:p>
        </p:txBody>
      </p:sp>
      <p:sp>
        <p:nvSpPr>
          <p:cNvPr id="29" name="Shape 19"/>
          <p:cNvSpPr/>
          <p:nvPr/>
        </p:nvSpPr>
        <p:spPr>
          <a:xfrm>
            <a:off x="6329105" y="4643437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98804" y="4713089"/>
            <a:ext cx="279095" cy="27910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30852" y="4707334"/>
            <a:ext cx="460571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Fine-tuned domain-specific extraction models</a:t>
            </a:r>
            <a:endParaRPr lang="en-US" sz="1800" dirty="0"/>
          </a:p>
        </p:txBody>
      </p:sp>
      <p:sp>
        <p:nvSpPr>
          <p:cNvPr id="32" name="Shape 21"/>
          <p:cNvSpPr/>
          <p:nvPr/>
        </p:nvSpPr>
        <p:spPr>
          <a:xfrm>
            <a:off x="6329105" y="5655072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98804" y="5724723"/>
            <a:ext cx="279095" cy="27910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930852" y="5718969"/>
            <a:ext cx="460571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Zotero/Mendeley 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28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0911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We're ready for your questions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06506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882529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515</Words>
  <Application>Microsoft Office PowerPoint</Application>
  <PresentationFormat>Widescreen</PresentationFormat>
  <Paragraphs>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Inter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Suraj Singh</dc:creator>
  <cp:lastModifiedBy>Suraj Singh</cp:lastModifiedBy>
  <cp:revision>3</cp:revision>
  <dcterms:created xsi:type="dcterms:W3CDTF">2026-08-06T09:44:20Z</dcterms:created>
  <dcterms:modified xsi:type="dcterms:W3CDTF">2026-09-24T08:36:06Z</dcterms:modified>
</cp:coreProperties>
</file>