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7"/>
  </p:notesMasterIdLst>
  <p:sldIdLst>
    <p:sldId id="273" r:id="rId2"/>
    <p:sldId id="257" r:id="rId3"/>
    <p:sldId id="258" r:id="rId4"/>
    <p:sldId id="261" r:id="rId5"/>
    <p:sldId id="260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4" r:id="rId14"/>
    <p:sldId id="271" r:id="rId15"/>
    <p:sldId id="272" r:id="rId16"/>
  </p:sldIdLst>
  <p:sldSz cx="12192000" cy="6858000"/>
  <p:notesSz cx="6858000" cy="12192000"/>
  <p:embeddedFontLst>
    <p:embeddedFont>
      <p:font typeface="Inter" panose="020B0604020202020204" charset="0"/>
      <p:regular r:id="rId18"/>
    </p:embeddedFont>
    <p:embeddedFont>
      <p:font typeface="Inter Bold" panose="020B0604020202020204" charset="0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94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698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12" Type="http://schemas.openxmlformats.org/officeDocument/2006/relationships/image" Target="../media/image33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11" Type="http://schemas.openxmlformats.org/officeDocument/2006/relationships/image" Target="../media/image32.svg"/><Relationship Id="rId5" Type="http://schemas.openxmlformats.org/officeDocument/2006/relationships/image" Target="../media/image26.svg"/><Relationship Id="rId10" Type="http://schemas.openxmlformats.org/officeDocument/2006/relationships/image" Target="../media/image31.svg"/><Relationship Id="rId4" Type="http://schemas.openxmlformats.org/officeDocument/2006/relationships/image" Target="../media/image25.svg"/><Relationship Id="rId9" Type="http://schemas.openxmlformats.org/officeDocument/2006/relationships/image" Target="../media/image30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36601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b="1" u="sng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ResearchNode</a:t>
            </a:r>
            <a:endParaRPr lang="en-US" sz="3700" u="sng" dirty="0"/>
          </a:p>
        </p:txBody>
      </p:sp>
      <p:sp>
        <p:nvSpPr>
          <p:cNvPr id="3" name="Text 1"/>
          <p:cNvSpPr/>
          <p:nvPr/>
        </p:nvSpPr>
        <p:spPr>
          <a:xfrm>
            <a:off x="661475" y="2202855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 GraphRAG Reasoning Engine for Scientific Literature</a:t>
            </a:r>
            <a:endParaRPr lang="en-US" sz="2950" dirty="0"/>
          </a:p>
        </p:txBody>
      </p:sp>
      <p:sp>
        <p:nvSpPr>
          <p:cNvPr id="4" name="Text 2"/>
          <p:cNvSpPr/>
          <p:nvPr/>
        </p:nvSpPr>
        <p:spPr>
          <a:xfrm>
            <a:off x="661475" y="2958802"/>
            <a:ext cx="10868745" cy="236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b="1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leader: Suraj Singh</a:t>
            </a:r>
          </a:p>
          <a:p>
            <a:pPr marL="0" indent="0" algn="ctr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b="1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Members: Suraj Gupta, Siddhant Singh, Shreya Yadav, Shreyanshi Yadav</a:t>
            </a:r>
          </a:p>
          <a:p>
            <a:pPr algn="ctr">
              <a:lnSpc>
                <a:spcPct val="133000"/>
              </a:lnSpc>
            </a:pPr>
            <a:r>
              <a:rPr lang="en-US" b="1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Id:  26_CS_3A_08</a:t>
            </a:r>
          </a:p>
          <a:p>
            <a:pPr algn="ctr">
              <a:lnSpc>
                <a:spcPct val="133000"/>
              </a:lnSpc>
            </a:pPr>
            <a:r>
              <a:rPr lang="en-US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Date: 07-09-2026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35397"/>
            <a:ext cx="10868745" cy="4134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kern="0" spc="-7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Problem: Why ResearchNode?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61475" y="1234083"/>
            <a:ext cx="10868745" cy="9700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203200" indent="-203200" algn="l">
              <a:lnSpc>
                <a:spcPct val="113000"/>
              </a:lnSpc>
              <a:buSzPct val="100000"/>
              <a:buChar char="•"/>
            </a:pPr>
            <a:r>
              <a:rPr lang="en-US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Information Overload: Millions of papers published yearly — impossible to read all</a:t>
            </a:r>
            <a:endParaRPr lang="en-US" dirty="0"/>
          </a:p>
          <a:p>
            <a:pPr marL="203200" indent="-203200" algn="l">
              <a:lnSpc>
                <a:spcPct val="113000"/>
              </a:lnSpc>
              <a:buSzPct val="100000"/>
              <a:buChar char="•"/>
            </a:pPr>
            <a:r>
              <a:rPr lang="en-US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Disconnected Knowledge: Google Scholar finds papers but cannot connect ideas or show relationships</a:t>
            </a:r>
            <a:endParaRPr lang="en-US" dirty="0"/>
          </a:p>
          <a:p>
            <a:pPr marL="203200" indent="-203200" algn="l">
              <a:lnSpc>
                <a:spcPct val="113000"/>
              </a:lnSpc>
              <a:buSzPct val="100000"/>
              <a:buChar char="•"/>
            </a:pPr>
            <a:r>
              <a:rPr lang="en-US" kern="0" spc="-2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Hallucinations: ChatGPT makes up facts, provides no verifiable citations, doesn't work on YOUR papers</a:t>
            </a:r>
            <a:endParaRPr lang="en-US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516" y="2204159"/>
            <a:ext cx="7608102" cy="427960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04652"/>
            <a:ext cx="10868745" cy="307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				Our Solution Overview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61475" y="1439919"/>
            <a:ext cx="10868745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kern="0" spc="-7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			        </a:t>
            </a:r>
            <a:r>
              <a:rPr lang="en-US" sz="2400" b="1" u="sng" kern="0" spc="-73" dirty="0" err="1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ResearchNode</a:t>
            </a:r>
            <a:r>
              <a:rPr lang="en-US" sz="2400" b="1" u="sng" kern="0" spc="-73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: 3 Pillars</a:t>
            </a:r>
            <a:endParaRPr lang="en-US" sz="2400" u="sng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6848" y="1877410"/>
            <a:ext cx="5883107" cy="27408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8168" y="5034104"/>
            <a:ext cx="10868745" cy="15604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3040" indent="-193040" algn="l">
              <a:lnSpc>
                <a:spcPct val="110000"/>
              </a:lnSpc>
              <a:buSzPct val="100000"/>
              <a:buChar char="•"/>
            </a:pPr>
            <a:r>
              <a:rPr lang="en-US" sz="2000" b="1" kern="0" spc="-1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UPLOAD:</a:t>
            </a:r>
            <a:r>
              <a:rPr lang="en-US" sz="2000" kern="0" spc="-19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Extract text and entities from PDFs automatically</a:t>
            </a:r>
            <a:endParaRPr lang="en-US" sz="2000" dirty="0"/>
          </a:p>
          <a:p>
            <a:pPr marL="193040" indent="-193040" algn="l">
              <a:lnSpc>
                <a:spcPct val="110000"/>
              </a:lnSpc>
              <a:buSzPct val="100000"/>
              <a:buChar char="•"/>
            </a:pPr>
            <a:r>
              <a:rPr lang="en-US" sz="2000" b="1" kern="0" spc="-1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CONNECT:</a:t>
            </a:r>
            <a:r>
              <a:rPr lang="en-US" sz="2000" kern="0" spc="-19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Build a persistent visual Knowledge Graph linking all concepts</a:t>
            </a:r>
            <a:endParaRPr lang="en-US" sz="2000" dirty="0"/>
          </a:p>
          <a:p>
            <a:pPr marL="193040" indent="-193040" algn="l">
              <a:lnSpc>
                <a:spcPct val="110000"/>
              </a:lnSpc>
              <a:buSzPct val="100000"/>
              <a:buChar char="•"/>
            </a:pPr>
            <a:r>
              <a:rPr lang="en-US" sz="2000" b="1" kern="0" spc="-19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REASON:</a:t>
            </a:r>
            <a:r>
              <a:rPr lang="en-US" sz="2000" kern="0" spc="-19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Ask questions using GraphRAG and get cited answers + run autonomous agents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0684" y="519807"/>
            <a:ext cx="10868745" cy="4878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240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			Full Pipeline Architecture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450" y="1269717"/>
            <a:ext cx="9753356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7546"/>
            <a:ext cx="10868745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kern="0" spc="-8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			PDF Processing Pipeline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661475" y="1183184"/>
            <a:ext cx="11478330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u="sng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Raw PDF to Searchable Vectors</a:t>
            </a:r>
            <a:endParaRPr lang="en-US" sz="1600" u="sng" dirty="0"/>
          </a:p>
        </p:txBody>
      </p:sp>
      <p:sp>
        <p:nvSpPr>
          <p:cNvPr id="4" name="Text 2"/>
          <p:cNvSpPr/>
          <p:nvPr/>
        </p:nvSpPr>
        <p:spPr>
          <a:xfrm>
            <a:off x="661475" y="1501180"/>
            <a:ext cx="10868745" cy="10927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223520" indent="-223520" algn="l">
              <a:lnSpc>
                <a:spcPct val="117000"/>
              </a:lnSpc>
              <a:buSzPct val="100000"/>
              <a:buChar char="•"/>
            </a:pPr>
            <a:r>
              <a:rPr lang="en-US" sz="16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PDF → PyMuPDF extracts text</a:t>
            </a:r>
            <a:endParaRPr lang="en-US" sz="1600" dirty="0"/>
          </a:p>
          <a:p>
            <a:pPr marL="223520" indent="-223520" algn="l">
              <a:lnSpc>
                <a:spcPct val="117000"/>
              </a:lnSpc>
              <a:buSzPct val="100000"/>
              <a:buChar char="•"/>
            </a:pPr>
            <a:r>
              <a:rPr lang="en-US" sz="16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TextCleaner removes noise (headers, footers, special chars)</a:t>
            </a:r>
            <a:endParaRPr lang="en-US" sz="1600" dirty="0"/>
          </a:p>
          <a:p>
            <a:pPr marL="223520" indent="-223520" algn="l">
              <a:lnSpc>
                <a:spcPct val="117000"/>
              </a:lnSpc>
              <a:buSzPct val="100000"/>
              <a:buChar char="•"/>
            </a:pPr>
            <a:r>
              <a:rPr lang="en-US" sz="16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TextChunker splits into 1000-char chunks with 200-char overlap</a:t>
            </a:r>
            <a:endParaRPr lang="en-US" sz="1600" dirty="0"/>
          </a:p>
          <a:p>
            <a:pPr marL="223520" indent="-223520" algn="l">
              <a:lnSpc>
                <a:spcPct val="117000"/>
              </a:lnSpc>
              <a:buSzPct val="100000"/>
              <a:buChar char="•"/>
            </a:pPr>
            <a:r>
              <a:rPr lang="en-US" sz="16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chunk gets a 384-dimensional embedding vector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3678" y="2526109"/>
            <a:ext cx="8084340" cy="348624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597661" y="5351235"/>
            <a:ext cx="1834069" cy="229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43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384‑D Embeddings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2597661" y="4544225"/>
            <a:ext cx="1834069" cy="229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43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Overlapping Chunks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597661" y="3745366"/>
            <a:ext cx="1834069" cy="229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43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Clean Text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597661" y="2938356"/>
            <a:ext cx="1834069" cy="229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43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Raw PDF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61475" y="5906768"/>
            <a:ext cx="11478330" cy="450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ct val="117000"/>
              </a:lnSpc>
              <a:buFont typeface="Arial" panose="020B0604020202020204" pitchFamily="34" charset="0"/>
              <a:buChar char="•"/>
            </a:pPr>
            <a:r>
              <a:rPr lang="en-US" sz="16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pipeline systematically processes raw PDF documents into </a:t>
            </a:r>
            <a:r>
              <a:rPr lang="en-US" sz="1600" kern="0" spc="-22" dirty="0" err="1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structured,searchable</a:t>
            </a:r>
            <a:r>
              <a:rPr lang="en-US" sz="16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vector embeddings,</a:t>
            </a:r>
          </a:p>
          <a:p>
            <a:pPr algn="l">
              <a:lnSpc>
                <a:spcPct val="117000"/>
              </a:lnSpc>
            </a:pPr>
            <a:r>
              <a:rPr lang="en-US" sz="16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enabling efficient analysis and retrieval.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637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			Why GraphRAG? The Innovation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335782"/>
            <a:ext cx="9753356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		Knowledge Graph: Nodes &amp; Relationships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186492"/>
            <a:ext cx="9753356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413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			Hybrid Entity Extraction Approach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465659"/>
            <a:ext cx="9753356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67481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Multi-Agent System: 3 Autonomous AI Agents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643485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system leverages three specialized AI agents working in concert to revolutionize research analysis:</a:t>
            </a:r>
            <a:endParaRPr lang="en-US" sz="1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3158530"/>
            <a:ext cx="472468" cy="472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1475" y="3867249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Literature Discovery Agent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661475" y="4275931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kern="0" spc="-30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Input topic</a:t>
            </a: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→ outputs related papers, relationship summary, suggested reading order</a:t>
            </a:r>
            <a:endParaRPr lang="en-US" sz="14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3135" y="3158530"/>
            <a:ext cx="472468" cy="472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363135" y="3867249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Contradiction Detection Agent</a:t>
            </a:r>
            <a:endParaRPr lang="en-US" sz="1850" dirty="0"/>
          </a:p>
        </p:txBody>
      </p:sp>
      <p:sp>
        <p:nvSpPr>
          <p:cNvPr id="9" name="Text 5"/>
          <p:cNvSpPr/>
          <p:nvPr/>
        </p:nvSpPr>
        <p:spPr>
          <a:xfrm>
            <a:off x="4363135" y="4275931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Scans papers globally → finds conflicting claims → outputs severity (High/Medium/Low)</a:t>
            </a:r>
            <a:endParaRPr lang="en-US" sz="14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94" y="3158530"/>
            <a:ext cx="472468" cy="472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064794" y="3867249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Experiment Suggestion Agent</a:t>
            </a:r>
            <a:endParaRPr lang="en-US" sz="1850" dirty="0"/>
          </a:p>
        </p:txBody>
      </p:sp>
      <p:sp>
        <p:nvSpPr>
          <p:cNvPr id="12" name="Text 7"/>
          <p:cNvSpPr/>
          <p:nvPr/>
        </p:nvSpPr>
        <p:spPr>
          <a:xfrm>
            <a:off x="8064794" y="4275931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Analyzes limitations + future work → outputs experiment title, rationale, novelty score (1-10)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Complete Technology Stack</a:t>
            </a:r>
            <a:endParaRPr lang="en-US" sz="1850" dirty="0"/>
          </a:p>
        </p:txBody>
      </p:sp>
      <p:sp>
        <p:nvSpPr>
          <p:cNvPr id="3" name="Text 1"/>
          <p:cNvSpPr/>
          <p:nvPr/>
        </p:nvSpPr>
        <p:spPr>
          <a:xfrm>
            <a:off x="661475" y="909538"/>
            <a:ext cx="11478330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kern="0" spc="-15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ResearchNode platform is built upon a robust and modern technology stack, ensuring scalability, performance, and advanced functionality across all layers.</a:t>
            </a:r>
            <a:endParaRPr lang="en-US" sz="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076027"/>
            <a:ext cx="9753356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693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6">
              <a:lnSpc>
                <a:spcPct val="104000"/>
              </a:lnSpc>
            </a:pPr>
            <a:r>
              <a:rPr lang="en-US" sz="2400" b="1" u="sng" kern="0" spc="-56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User Interface: 4 Main Pages</a:t>
            </a:r>
            <a:endParaRPr lang="en-US" sz="2400" u="sn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B31961-F4C5-469D-C165-FB5EBC913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795" y="1449615"/>
            <a:ext cx="4700198" cy="25298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85CD4C8-19CE-0AD2-ECAB-CB8DD62308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5131" y="4035335"/>
            <a:ext cx="4696178" cy="26416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E35A5CC-0D5C-19F5-ED5D-CBED99DFDF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47" y="1393735"/>
            <a:ext cx="4696178" cy="26416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514583F-2D7C-D5E8-F7A4-CCFD5EB543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47" y="4143465"/>
            <a:ext cx="4696178" cy="2641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56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07330"/>
            <a:ext cx="10868745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kern="0" spc="-84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Performance Targets &amp; Benchmarks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661475" y="1362968"/>
            <a:ext cx="11478330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system consistently meets stringent performance targets, ensuring efficiency and responsiveness across all key operations:</a:t>
            </a:r>
            <a:endParaRPr lang="en-US" sz="11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680964"/>
            <a:ext cx="354401" cy="35440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1475" y="2168227"/>
            <a:ext cx="353428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PDF Extraction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61475" y="2453382"/>
            <a:ext cx="3534282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pages: &lt; 5 seconds ✓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28607" y="1680964"/>
            <a:ext cx="354401" cy="35440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328607" y="2168227"/>
            <a:ext cx="3534381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Embedding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4328607" y="2453382"/>
            <a:ext cx="3534381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chunks: &lt; 10 seconds ✓</a:t>
            </a:r>
            <a:endParaRPr lang="en-US" sz="11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95839" y="1680964"/>
            <a:ext cx="354401" cy="354409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995839" y="2168227"/>
            <a:ext cx="3534381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Vector Search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7995839" y="2453382"/>
            <a:ext cx="3534381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Top-10: &lt; 500ms ✓</a:t>
            </a:r>
            <a:endParaRPr lang="en-US" sz="11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2864445"/>
            <a:ext cx="354401" cy="35440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61475" y="3351709"/>
            <a:ext cx="353428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Graph Query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661475" y="3636863"/>
            <a:ext cx="3534282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&lt; 2 seconds ✓</a:t>
            </a:r>
            <a:endParaRPr lang="en-US" sz="11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28607" y="2864445"/>
            <a:ext cx="354401" cy="354409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4328607" y="3351709"/>
            <a:ext cx="3534381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42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Full RAG Response</a:t>
            </a:r>
            <a:endParaRPr lang="en-US" sz="1350" dirty="0"/>
          </a:p>
        </p:txBody>
      </p:sp>
      <p:sp>
        <p:nvSpPr>
          <p:cNvPr id="18" name="Text 11"/>
          <p:cNvSpPr/>
          <p:nvPr/>
        </p:nvSpPr>
        <p:spPr>
          <a:xfrm>
            <a:off x="4328607" y="3636863"/>
            <a:ext cx="3534381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kern="0" spc="-22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&lt; 15 seconds ✓</a:t>
            </a:r>
            <a:endParaRPr lang="en-US" sz="1100" dirty="0"/>
          </a:p>
        </p:txBody>
      </p:sp>
      <p:sp>
        <p:nvSpPr>
          <p:cNvPr id="19" name="Text 12"/>
          <p:cNvSpPr/>
          <p:nvPr/>
        </p:nvSpPr>
        <p:spPr>
          <a:xfrm>
            <a:off x="661475" y="3994745"/>
            <a:ext cx="10868745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System Specifications &amp; Limits</a:t>
            </a:r>
            <a:endParaRPr lang="en-US" sz="16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/>
        </p:nvGraphicFramePr>
        <p:xfrm>
          <a:off x="661475" y="4419898"/>
          <a:ext cx="10868746" cy="1718030"/>
        </p:xfrm>
        <a:graphic>
          <a:graphicData uri="http://schemas.openxmlformats.org/drawingml/2006/table">
            <a:tbl>
              <a:tblPr/>
              <a:tblGrid>
                <a:gridCol w="5434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343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17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kern="0" spc="-22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Metric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1764" marR="141764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kern="0" spc="-22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Limit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1764" marR="141764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kern="0" spc="-22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Max PDF size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1764" marR="141764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kern="0" spc="-22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 MB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1764" marR="141764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kern="0" spc="-22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Max papers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1764" marR="141764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kern="0" spc="-22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1764" marR="141764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kern="0" spc="-22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Max vectors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1764" marR="141764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kern="0" spc="-22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10,000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1764" marR="141764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17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kern="0" spc="-22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UI responsive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1764" marR="141764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kern="0" spc="-22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≥ 1024px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41764" marR="141764" marT="6350" marB="6350" anchor="ctr">
                    <a:lnL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1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8247"/>
            <a:ext cx="10868745" cy="581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kern="0" spc="-11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Limitations &amp; Future Roadmap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661475" y="1617563"/>
            <a:ext cx="5207465" cy="46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b="1" kern="0" spc="-8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Limitations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61475" y="2288679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174" y="2358330"/>
            <a:ext cx="279095" cy="2791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63222" y="2352576"/>
            <a:ext cx="4605718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kern="0" spc="-5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Entity extraction not 100% accurate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61475" y="3073598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174" y="3143250"/>
            <a:ext cx="279095" cy="27910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63222" y="3137495"/>
            <a:ext cx="4605718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kern="0" spc="-5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Works best with ML/AI papers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61475" y="3858518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174" y="3928170"/>
            <a:ext cx="279095" cy="27910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63222" y="3922415"/>
            <a:ext cx="4605718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kern="0" spc="-5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Requires local database instances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661475" y="4643437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1174" y="4713089"/>
            <a:ext cx="279095" cy="27910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63222" y="4707334"/>
            <a:ext cx="4605718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kern="0" spc="-5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English-only support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661475" y="5428357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1174" y="5498009"/>
            <a:ext cx="279095" cy="27910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63222" y="5492254"/>
            <a:ext cx="4605718" cy="581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kern="0" spc="-5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Needs 3-5 papers minimum for meaningful graph</a:t>
            </a:r>
            <a:endParaRPr lang="en-US" sz="1800" dirty="0"/>
          </a:p>
        </p:txBody>
      </p:sp>
      <p:sp>
        <p:nvSpPr>
          <p:cNvPr id="19" name="Text 12"/>
          <p:cNvSpPr/>
          <p:nvPr/>
        </p:nvSpPr>
        <p:spPr>
          <a:xfrm>
            <a:off x="6329105" y="1617563"/>
            <a:ext cx="5207465" cy="46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b="1" kern="0" spc="-88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Future Scope</a:t>
            </a:r>
            <a:endParaRPr lang="en-US" sz="2900" dirty="0"/>
          </a:p>
        </p:txBody>
      </p:sp>
      <p:sp>
        <p:nvSpPr>
          <p:cNvPr id="20" name="Shape 13"/>
          <p:cNvSpPr/>
          <p:nvPr/>
        </p:nvSpPr>
        <p:spPr>
          <a:xfrm>
            <a:off x="6329105" y="2288679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98804" y="2358330"/>
            <a:ext cx="279095" cy="27910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930852" y="2352576"/>
            <a:ext cx="4605718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kern="0" spc="-5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Real-time arXiv/PubMed integration</a:t>
            </a:r>
            <a:endParaRPr lang="en-US" sz="1800" dirty="0"/>
          </a:p>
        </p:txBody>
      </p:sp>
      <p:sp>
        <p:nvSpPr>
          <p:cNvPr id="23" name="Shape 15"/>
          <p:cNvSpPr/>
          <p:nvPr/>
        </p:nvSpPr>
        <p:spPr>
          <a:xfrm>
            <a:off x="6329105" y="3073598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398804" y="3143250"/>
            <a:ext cx="279095" cy="27910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930852" y="3137495"/>
            <a:ext cx="4605718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kern="0" spc="-5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Cloud deployment (AWS/GCP)</a:t>
            </a:r>
            <a:endParaRPr lang="en-US" sz="1800" dirty="0"/>
          </a:p>
        </p:txBody>
      </p:sp>
      <p:sp>
        <p:nvSpPr>
          <p:cNvPr id="26" name="Shape 17"/>
          <p:cNvSpPr/>
          <p:nvPr/>
        </p:nvSpPr>
        <p:spPr>
          <a:xfrm>
            <a:off x="6329105" y="3858518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98804" y="3928170"/>
            <a:ext cx="279095" cy="279102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930852" y="3922415"/>
            <a:ext cx="4605718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kern="0" spc="-5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Multi-user collaborative workspaces</a:t>
            </a:r>
            <a:endParaRPr lang="en-US" sz="1800" dirty="0"/>
          </a:p>
        </p:txBody>
      </p:sp>
      <p:sp>
        <p:nvSpPr>
          <p:cNvPr id="29" name="Shape 19"/>
          <p:cNvSpPr/>
          <p:nvPr/>
        </p:nvSpPr>
        <p:spPr>
          <a:xfrm>
            <a:off x="6329105" y="4643437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98804" y="4713089"/>
            <a:ext cx="279095" cy="279102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6930852" y="4707334"/>
            <a:ext cx="4605718" cy="581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kern="0" spc="-5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Fine-tuned domain-specific extraction models</a:t>
            </a:r>
            <a:endParaRPr lang="en-US" sz="1800" dirty="0"/>
          </a:p>
        </p:txBody>
      </p:sp>
      <p:sp>
        <p:nvSpPr>
          <p:cNvPr id="32" name="Shape 21"/>
          <p:cNvSpPr/>
          <p:nvPr/>
        </p:nvSpPr>
        <p:spPr>
          <a:xfrm>
            <a:off x="6329105" y="5655072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</p:sp>
      <p:pic>
        <p:nvPicPr>
          <p:cNvPr id="33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398804" y="5724723"/>
            <a:ext cx="279095" cy="279102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6930852" y="5718969"/>
            <a:ext cx="4605718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kern="0" spc="-55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Zotero/Mendeley integration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642864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Thank You!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309118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950" b="1" kern="0" spc="-89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We're ready for your questions</a:t>
            </a:r>
            <a:endParaRPr lang="en-US" sz="2950" dirty="0"/>
          </a:p>
        </p:txBody>
      </p:sp>
      <p:sp>
        <p:nvSpPr>
          <p:cNvPr id="4" name="Text 2"/>
          <p:cNvSpPr/>
          <p:nvPr/>
        </p:nvSpPr>
        <p:spPr>
          <a:xfrm>
            <a:off x="661475" y="3065066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61475" y="3882529"/>
            <a:ext cx="10868745" cy="1332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3000"/>
              </a:lnSpc>
              <a:spcAft>
                <a:spcPts val="1650"/>
              </a:spcAft>
              <a:buNone/>
            </a:pP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515</Words>
  <Application>Microsoft Office PowerPoint</Application>
  <PresentationFormat>Widescreen</PresentationFormat>
  <Paragraphs>96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Inter</vt:lpstr>
      <vt:lpstr>Inter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Suraj Singh</dc:creator>
  <cp:lastModifiedBy>Suraj Singh</cp:lastModifiedBy>
  <cp:revision>2</cp:revision>
  <dcterms:created xsi:type="dcterms:W3CDTF">2026-08-06T09:44:20Z</dcterms:created>
  <dcterms:modified xsi:type="dcterms:W3CDTF">2026-09-07T09:44:45Z</dcterms:modified>
</cp:coreProperties>
</file>